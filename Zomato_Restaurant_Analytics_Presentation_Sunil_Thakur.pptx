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ora Bold" charset="1" panose="00000800000000000000"/>
      <p:regular r:id="rId22"/>
    </p:embeddedFont>
    <p:embeddedFont>
      <p:font typeface="Inter Light" charset="1" panose="02000503000000020004"/>
      <p:regular r:id="rId23"/>
    </p:embeddedFont>
    <p:embeddedFont>
      <p:font typeface="Lora" charset="1" panose="00000500000000000000"/>
      <p:regular r:id="rId24"/>
    </p:embeddedFont>
    <p:embeddedFont>
      <p:font typeface="Cinzel Decorative Bold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9A7C62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98326" y="5280841"/>
            <a:ext cx="3699006" cy="714374"/>
            <a:chOff x="0" y="0"/>
            <a:chExt cx="974224" cy="1881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4224" cy="188148"/>
            </a:xfrm>
            <a:custGeom>
              <a:avLst/>
              <a:gdLst/>
              <a:ahLst/>
              <a:cxnLst/>
              <a:rect r="r" b="b" t="t" l="l"/>
              <a:pathLst>
                <a:path h="188148" w="974224">
                  <a:moveTo>
                    <a:pt x="94074" y="0"/>
                  </a:moveTo>
                  <a:lnTo>
                    <a:pt x="880150" y="0"/>
                  </a:lnTo>
                  <a:cubicBezTo>
                    <a:pt x="905100" y="0"/>
                    <a:pt x="929028" y="9911"/>
                    <a:pt x="946670" y="27554"/>
                  </a:cubicBezTo>
                  <a:cubicBezTo>
                    <a:pt x="964313" y="45196"/>
                    <a:pt x="974224" y="69124"/>
                    <a:pt x="974224" y="94074"/>
                  </a:cubicBezTo>
                  <a:lnTo>
                    <a:pt x="974224" y="94074"/>
                  </a:lnTo>
                  <a:cubicBezTo>
                    <a:pt x="974224" y="119024"/>
                    <a:pt x="964313" y="142952"/>
                    <a:pt x="946670" y="160594"/>
                  </a:cubicBezTo>
                  <a:cubicBezTo>
                    <a:pt x="929028" y="178237"/>
                    <a:pt x="905100" y="188148"/>
                    <a:pt x="880150" y="188148"/>
                  </a:cubicBezTo>
                  <a:lnTo>
                    <a:pt x="94074" y="188148"/>
                  </a:lnTo>
                  <a:cubicBezTo>
                    <a:pt x="69124" y="188148"/>
                    <a:pt x="45196" y="178237"/>
                    <a:pt x="27554" y="160594"/>
                  </a:cubicBezTo>
                  <a:cubicBezTo>
                    <a:pt x="9911" y="142952"/>
                    <a:pt x="0" y="119024"/>
                    <a:pt x="0" y="94074"/>
                  </a:cubicBezTo>
                  <a:lnTo>
                    <a:pt x="0" y="94074"/>
                  </a:lnTo>
                  <a:cubicBezTo>
                    <a:pt x="0" y="69124"/>
                    <a:pt x="9911" y="45196"/>
                    <a:pt x="27554" y="27554"/>
                  </a:cubicBezTo>
                  <a:cubicBezTo>
                    <a:pt x="45196" y="9911"/>
                    <a:pt x="69124" y="0"/>
                    <a:pt x="94074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74224" cy="245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Business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13341" y="5280841"/>
            <a:ext cx="3394871" cy="714374"/>
            <a:chOff x="0" y="0"/>
            <a:chExt cx="894122" cy="1881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4122" cy="188148"/>
            </a:xfrm>
            <a:custGeom>
              <a:avLst/>
              <a:gdLst/>
              <a:ahLst/>
              <a:cxnLst/>
              <a:rect r="r" b="b" t="t" l="l"/>
              <a:pathLst>
                <a:path h="188148" w="894122">
                  <a:moveTo>
                    <a:pt x="94074" y="0"/>
                  </a:moveTo>
                  <a:lnTo>
                    <a:pt x="800048" y="0"/>
                  </a:lnTo>
                  <a:cubicBezTo>
                    <a:pt x="824998" y="0"/>
                    <a:pt x="848926" y="9911"/>
                    <a:pt x="866569" y="27554"/>
                  </a:cubicBezTo>
                  <a:cubicBezTo>
                    <a:pt x="884211" y="45196"/>
                    <a:pt x="894122" y="69124"/>
                    <a:pt x="894122" y="94074"/>
                  </a:cubicBezTo>
                  <a:lnTo>
                    <a:pt x="894122" y="94074"/>
                  </a:lnTo>
                  <a:cubicBezTo>
                    <a:pt x="894122" y="119024"/>
                    <a:pt x="884211" y="142952"/>
                    <a:pt x="866569" y="160594"/>
                  </a:cubicBezTo>
                  <a:cubicBezTo>
                    <a:pt x="848926" y="178237"/>
                    <a:pt x="824998" y="188148"/>
                    <a:pt x="800048" y="188148"/>
                  </a:cubicBezTo>
                  <a:lnTo>
                    <a:pt x="94074" y="188148"/>
                  </a:lnTo>
                  <a:cubicBezTo>
                    <a:pt x="69124" y="188148"/>
                    <a:pt x="45196" y="178237"/>
                    <a:pt x="27554" y="160594"/>
                  </a:cubicBezTo>
                  <a:cubicBezTo>
                    <a:pt x="9911" y="142952"/>
                    <a:pt x="0" y="119024"/>
                    <a:pt x="0" y="94074"/>
                  </a:cubicBezTo>
                  <a:lnTo>
                    <a:pt x="0" y="94074"/>
                  </a:lnTo>
                  <a:cubicBezTo>
                    <a:pt x="0" y="69124"/>
                    <a:pt x="9911" y="45196"/>
                    <a:pt x="27554" y="27554"/>
                  </a:cubicBezTo>
                  <a:cubicBezTo>
                    <a:pt x="45196" y="9911"/>
                    <a:pt x="69124" y="0"/>
                    <a:pt x="94074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94122" cy="2452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b="true" sz="2999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Data Cleaning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995823" y="2130138"/>
            <a:ext cx="4587889" cy="339768"/>
            <a:chOff x="0" y="0"/>
            <a:chExt cx="6117185" cy="453024"/>
          </a:xfrm>
        </p:grpSpPr>
        <p:sp>
          <p:nvSpPr>
            <p:cNvPr name="AutoShape 24" id="24"/>
            <p:cNvSpPr/>
            <p:nvPr/>
          </p:nvSpPr>
          <p:spPr>
            <a:xfrm>
              <a:off x="452044" y="446674"/>
              <a:ext cx="5665141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5" id="25"/>
            <p:cNvGrpSpPr/>
            <p:nvPr/>
          </p:nvGrpSpPr>
          <p:grpSpPr>
            <a:xfrm rot="0">
              <a:off x="0" y="49894"/>
              <a:ext cx="271057" cy="258351"/>
              <a:chOff x="0" y="0"/>
              <a:chExt cx="812800" cy="7747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BDFF00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52044" y="-38100"/>
              <a:ext cx="5665141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4F4F4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Data-Driven Business Insights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995823" y="1580965"/>
            <a:ext cx="4566957" cy="310244"/>
            <a:chOff x="0" y="0"/>
            <a:chExt cx="6089276" cy="413659"/>
          </a:xfrm>
        </p:grpSpPr>
        <p:sp>
          <p:nvSpPr>
            <p:cNvPr name="AutoShape 30" id="30"/>
            <p:cNvSpPr/>
            <p:nvPr/>
          </p:nvSpPr>
          <p:spPr>
            <a:xfrm>
              <a:off x="452044" y="407309"/>
              <a:ext cx="5637232" cy="0"/>
            </a:xfrm>
            <a:prstGeom prst="line">
              <a:avLst/>
            </a:prstGeom>
            <a:ln cap="rnd" w="127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1" id="31"/>
            <p:cNvGrpSpPr/>
            <p:nvPr/>
          </p:nvGrpSpPr>
          <p:grpSpPr>
            <a:xfrm rot="0">
              <a:off x="0" y="49894"/>
              <a:ext cx="271057" cy="258351"/>
              <a:chOff x="0" y="0"/>
              <a:chExt cx="812800" cy="7747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774700"/>
              </a:xfrm>
              <a:custGeom>
                <a:avLst/>
                <a:gdLst/>
                <a:ahLst/>
                <a:cxnLst/>
                <a:rect r="r" b="b" t="t" l="l"/>
                <a:pathLst>
                  <a:path h="774700" w="812800">
                    <a:moveTo>
                      <a:pt x="406400" y="0"/>
                    </a:moveTo>
                    <a:lnTo>
                      <a:pt x="502338" y="295909"/>
                    </a:lnTo>
                    <a:lnTo>
                      <a:pt x="812800" y="295909"/>
                    </a:lnTo>
                    <a:lnTo>
                      <a:pt x="561631" y="478791"/>
                    </a:lnTo>
                    <a:lnTo>
                      <a:pt x="657569" y="774700"/>
                    </a:lnTo>
                    <a:lnTo>
                      <a:pt x="406400" y="591819"/>
                    </a:lnTo>
                    <a:lnTo>
                      <a:pt x="155231" y="774700"/>
                    </a:lnTo>
                    <a:lnTo>
                      <a:pt x="251169" y="478791"/>
                    </a:lnTo>
                    <a:lnTo>
                      <a:pt x="0" y="295909"/>
                    </a:lnTo>
                    <a:lnTo>
                      <a:pt x="310462" y="295909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BDFF00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228600" y="228600"/>
                <a:ext cx="355600" cy="3810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52044" y="-38100"/>
              <a:ext cx="5637232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4F4F4"/>
                  </a:solidFill>
                  <a:latin typeface="Inter Light"/>
                  <a:ea typeface="Inter Light"/>
                  <a:cs typeface="Inter Light"/>
                  <a:sym typeface="Inter Light"/>
                </a:rPr>
                <a:t>Restaurant Performance Analysis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553679" y="2922809"/>
            <a:ext cx="5705621" cy="6335491"/>
            <a:chOff x="0" y="0"/>
            <a:chExt cx="538902" cy="59839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8902" cy="598394"/>
            </a:xfrm>
            <a:custGeom>
              <a:avLst/>
              <a:gdLst/>
              <a:ahLst/>
              <a:cxnLst/>
              <a:rect r="r" b="b" t="t" l="l"/>
              <a:pathLst>
                <a:path h="598394" w="538902">
                  <a:moveTo>
                    <a:pt x="0" y="0"/>
                  </a:moveTo>
                  <a:lnTo>
                    <a:pt x="538902" y="0"/>
                  </a:lnTo>
                  <a:lnTo>
                    <a:pt x="538902" y="598394"/>
                  </a:lnTo>
                  <a:lnTo>
                    <a:pt x="0" y="598394"/>
                  </a:lnTo>
                  <a:close/>
                </a:path>
              </a:pathLst>
            </a:custGeom>
            <a:blipFill>
              <a:blip r:embed="rId2"/>
              <a:stretch>
                <a:fillRect l="-21867" t="0" r="-44691" b="0"/>
              </a:stretch>
            </a:blipFill>
            <a:ln w="19050" cap="sq">
              <a:solidFill>
                <a:srgbClr val="BDFF00"/>
              </a:solidFill>
              <a:prstDash val="solid"/>
              <a:miter/>
            </a:ln>
          </p:spPr>
        </p:sp>
      </p:grpSp>
      <p:sp>
        <p:nvSpPr>
          <p:cNvPr name="AutoShape 37" id="37"/>
          <p:cNvSpPr/>
          <p:nvPr/>
        </p:nvSpPr>
        <p:spPr>
          <a:xfrm>
            <a:off x="11572729" y="1042078"/>
            <a:ext cx="0" cy="1880732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 flipH="true">
            <a:off x="1001987" y="3408847"/>
            <a:ext cx="10524979" cy="0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975274" y="1694841"/>
            <a:ext cx="10578406" cy="953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b="true" sz="4691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ZOMATO RESTAURANT ANALYTICS</a:t>
            </a:r>
          </a:p>
          <a:p>
            <a:pPr algn="ctr">
              <a:lnSpc>
                <a:spcPts val="3518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3263049" y="7304406"/>
            <a:ext cx="6366810" cy="1526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sz="2916">
                <a:solidFill>
                  <a:srgbClr val="F5DB99"/>
                </a:solidFill>
                <a:latin typeface="Lora"/>
                <a:ea typeface="Lora"/>
                <a:cs typeface="Lora"/>
                <a:sym typeface="Lora"/>
              </a:rPr>
              <a:t>Sunil Thakur</a:t>
            </a:r>
          </a:p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sz="2916">
                <a:solidFill>
                  <a:srgbClr val="F5DB99"/>
                </a:solidFill>
                <a:latin typeface="Lora"/>
                <a:ea typeface="Lora"/>
                <a:cs typeface="Lora"/>
                <a:sym typeface="Lora"/>
              </a:rPr>
              <a:t> AI &amp; Data Science</a:t>
            </a:r>
          </a:p>
          <a:p>
            <a:pPr algn="ctr">
              <a:lnSpc>
                <a:spcPts val="4083"/>
              </a:lnSpc>
              <a:spcBef>
                <a:spcPct val="0"/>
              </a:spcBef>
            </a:pPr>
            <a:r>
              <a:rPr lang="en-US" sz="2916">
                <a:solidFill>
                  <a:srgbClr val="F5DB99"/>
                </a:solidFill>
                <a:latin typeface="Lora"/>
                <a:ea typeface="Lora"/>
                <a:cs typeface="Lora"/>
                <a:sym typeface="Lora"/>
              </a:rPr>
              <a:t>Restaurant Analytics Project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774843" y="2312991"/>
            <a:ext cx="4271595" cy="51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8"/>
              </a:lnSpc>
            </a:pPr>
            <a:r>
              <a:rPr lang="en-US" b="true" sz="4691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DASHBOARD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510903" cy="1651090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61931" y="1846844"/>
            <a:ext cx="9321101" cy="419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b="true" sz="3844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PROBLEM STATEMENT &amp; OBJECTIVES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59699" y="1042078"/>
            <a:ext cx="6918003" cy="9191900"/>
            <a:chOff x="0" y="0"/>
            <a:chExt cx="653413" cy="8681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3413" cy="868185"/>
            </a:xfrm>
            <a:custGeom>
              <a:avLst/>
              <a:gdLst/>
              <a:ahLst/>
              <a:cxnLst/>
              <a:rect r="r" b="b" t="t" l="l"/>
              <a:pathLst>
                <a:path h="868185" w="653413">
                  <a:moveTo>
                    <a:pt x="0" y="0"/>
                  </a:moveTo>
                  <a:lnTo>
                    <a:pt x="653413" y="0"/>
                  </a:lnTo>
                  <a:lnTo>
                    <a:pt x="653413" y="868185"/>
                  </a:lnTo>
                  <a:lnTo>
                    <a:pt x="0" y="868185"/>
                  </a:lnTo>
                  <a:close/>
                </a:path>
              </a:pathLst>
            </a:custGeom>
            <a:blipFill>
              <a:blip r:embed="rId2"/>
              <a:stretch>
                <a:fillRect l="0" t="-6395" r="0" b="-6395"/>
              </a:stretch>
            </a:blipFill>
            <a:ln w="19050" cap="sq">
              <a:solidFill>
                <a:srgbClr val="BDFF00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28606" y="3877792"/>
            <a:ext cx="7406209" cy="1829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06"/>
              </a:lnSpc>
            </a:pPr>
          </a:p>
          <a:p>
            <a:pPr algn="just" marL="571527" indent="-285763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Analyze ratings, votes &amp; pricing trends.</a:t>
            </a:r>
          </a:p>
          <a:p>
            <a:pPr algn="just" marL="571527" indent="-285763" lvl="1">
              <a:lnSpc>
                <a:spcPts val="3706"/>
              </a:lnSpc>
              <a:buFont typeface="Arial"/>
              <a:buChar char="•"/>
            </a:pPr>
            <a:r>
              <a:rPr lang="en-US" sz="264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Study delivery &amp; booking patterns.</a:t>
            </a:r>
          </a:p>
          <a:p>
            <a:pPr algn="just" marL="571527" indent="-285763" lvl="1">
              <a:lnSpc>
                <a:spcPts val="3706"/>
              </a:lnSpc>
              <a:spcBef>
                <a:spcPct val="0"/>
              </a:spcBef>
              <a:buFont typeface="Arial"/>
              <a:buChar char="•"/>
            </a:pPr>
            <a:r>
              <a:rPr lang="en-US" sz="264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Generate actionable business insights.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84951" y="7335930"/>
            <a:ext cx="3094459" cy="644443"/>
            <a:chOff x="0" y="0"/>
            <a:chExt cx="815001" cy="1697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5001" cy="169730"/>
            </a:xfrm>
            <a:custGeom>
              <a:avLst/>
              <a:gdLst/>
              <a:ahLst/>
              <a:cxnLst/>
              <a:rect r="r" b="b" t="t" l="l"/>
              <a:pathLst>
                <a:path h="169730" w="815001">
                  <a:moveTo>
                    <a:pt x="0" y="0"/>
                  </a:moveTo>
                  <a:lnTo>
                    <a:pt x="815001" y="0"/>
                  </a:lnTo>
                  <a:lnTo>
                    <a:pt x="815001" y="169730"/>
                  </a:lnTo>
                  <a:lnTo>
                    <a:pt x="0" y="169730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815001" cy="217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790354" y="7423202"/>
            <a:ext cx="313483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Project Objectives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4806" y="7797852"/>
            <a:ext cx="7739194" cy="91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23"/>
              </a:lnSpc>
            </a:pPr>
          </a:p>
          <a:p>
            <a:pPr algn="just">
              <a:lnSpc>
                <a:spcPts val="3723"/>
              </a:lnSpc>
              <a:spcBef>
                <a:spcPct val="0"/>
              </a:spcBef>
            </a:pPr>
            <a:r>
              <a:rPr lang="en-US" sz="2659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Analyze restaurant ratings &amp; customer votes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4806" y="8877375"/>
            <a:ext cx="5347695" cy="4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Compare pricing across countries​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04806" y="9455601"/>
            <a:ext cx="5347695" cy="43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29"/>
              </a:lnSpc>
              <a:spcBef>
                <a:spcPct val="0"/>
              </a:spcBef>
            </a:pPr>
            <a:r>
              <a:rPr lang="en-US" sz="2521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Build an interactive dashboard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94476" y="3399360"/>
            <a:ext cx="3589452" cy="644443"/>
            <a:chOff x="0" y="0"/>
            <a:chExt cx="945370" cy="1697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5370" cy="169730"/>
            </a:xfrm>
            <a:custGeom>
              <a:avLst/>
              <a:gdLst/>
              <a:ahLst/>
              <a:cxnLst/>
              <a:rect r="r" b="b" t="t" l="l"/>
              <a:pathLst>
                <a:path h="169730" w="945370">
                  <a:moveTo>
                    <a:pt x="0" y="0"/>
                  </a:moveTo>
                  <a:lnTo>
                    <a:pt x="945370" y="0"/>
                  </a:lnTo>
                  <a:lnTo>
                    <a:pt x="945370" y="169730"/>
                  </a:lnTo>
                  <a:lnTo>
                    <a:pt x="0" y="169730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945370" cy="217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790354" y="3470122"/>
            <a:ext cx="313483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Problem Statement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232254" y="1541066"/>
            <a:ext cx="9350777" cy="725525"/>
            <a:chOff x="0" y="0"/>
            <a:chExt cx="2462756" cy="1910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62756" cy="191085"/>
            </a:xfrm>
            <a:custGeom>
              <a:avLst/>
              <a:gdLst/>
              <a:ahLst/>
              <a:cxnLst/>
              <a:rect r="r" b="b" t="t" l="l"/>
              <a:pathLst>
                <a:path h="191085" w="2462756">
                  <a:moveTo>
                    <a:pt x="0" y="0"/>
                  </a:moveTo>
                  <a:lnTo>
                    <a:pt x="2462756" y="0"/>
                  </a:lnTo>
                  <a:lnTo>
                    <a:pt x="2462756" y="191085"/>
                  </a:lnTo>
                  <a:lnTo>
                    <a:pt x="0" y="191085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462756" cy="238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514350" y="3523005"/>
            <a:ext cx="10070452" cy="5599233"/>
          </a:xfrm>
          <a:custGeom>
            <a:avLst/>
            <a:gdLst/>
            <a:ahLst/>
            <a:cxnLst/>
            <a:rect r="r" b="b" t="t" l="l"/>
            <a:pathLst>
              <a:path h="5599233" w="10070452">
                <a:moveTo>
                  <a:pt x="0" y="0"/>
                </a:moveTo>
                <a:lnTo>
                  <a:pt x="10070452" y="0"/>
                </a:lnTo>
                <a:lnTo>
                  <a:pt x="10070452" y="5599234"/>
                </a:lnTo>
                <a:lnTo>
                  <a:pt x="0" y="5599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43" r="-28064" b="-18433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93069" y="927778"/>
            <a:ext cx="9575397" cy="1068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820"/>
              </a:lnSpc>
              <a:spcBef>
                <a:spcPct val="0"/>
              </a:spcBef>
            </a:pPr>
            <a:r>
              <a:rPr lang="en-US" b="true" sz="6300" u="none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DATASET OVERVIEW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00222" y="5141539"/>
            <a:ext cx="502481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📊 Total Records: 9,551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📋 Total Columns: 21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🌍 Countries Covered: 15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🏙️ Cities Covered: 141</a:t>
            </a:r>
          </a:p>
          <a:p>
            <a:pPr algn="l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🍽️ Cuisines Covered: 1,800+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778361" y="1107190"/>
            <a:ext cx="8187169" cy="889292"/>
            <a:chOff x="0" y="0"/>
            <a:chExt cx="2156291" cy="23421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6291" cy="234217"/>
            </a:xfrm>
            <a:custGeom>
              <a:avLst/>
              <a:gdLst/>
              <a:ahLst/>
              <a:cxnLst/>
              <a:rect r="r" b="b" t="t" l="l"/>
              <a:pathLst>
                <a:path h="234217" w="2156291">
                  <a:moveTo>
                    <a:pt x="0" y="0"/>
                  </a:moveTo>
                  <a:lnTo>
                    <a:pt x="2156291" y="0"/>
                  </a:lnTo>
                  <a:lnTo>
                    <a:pt x="2156291" y="234217"/>
                  </a:lnTo>
                  <a:lnTo>
                    <a:pt x="0" y="234217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2156291" cy="2818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47750" y="1051603"/>
            <a:ext cx="16230600" cy="8734145"/>
            <a:chOff x="0" y="0"/>
            <a:chExt cx="4274726" cy="23003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300351"/>
            </a:xfrm>
            <a:custGeom>
              <a:avLst/>
              <a:gdLst/>
              <a:ahLst/>
              <a:cxnLst/>
              <a:rect r="r" b="b" t="t" l="l"/>
              <a:pathLst>
                <a:path h="2300351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300351"/>
                  </a:lnTo>
                  <a:lnTo>
                    <a:pt x="0" y="2300351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338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212434" y="1928814"/>
            <a:ext cx="4894831" cy="675364"/>
            <a:chOff x="0" y="0"/>
            <a:chExt cx="1289174" cy="1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89174" cy="177874"/>
            </a:xfrm>
            <a:custGeom>
              <a:avLst/>
              <a:gdLst/>
              <a:ahLst/>
              <a:cxnLst/>
              <a:rect r="r" b="b" t="t" l="l"/>
              <a:pathLst>
                <a:path h="177874" w="1289174">
                  <a:moveTo>
                    <a:pt x="88937" y="0"/>
                  </a:moveTo>
                  <a:lnTo>
                    <a:pt x="1200237" y="0"/>
                  </a:lnTo>
                  <a:cubicBezTo>
                    <a:pt x="1249355" y="0"/>
                    <a:pt x="1289174" y="39818"/>
                    <a:pt x="1289174" y="88937"/>
                  </a:cubicBezTo>
                  <a:lnTo>
                    <a:pt x="1289174" y="88937"/>
                  </a:lnTo>
                  <a:cubicBezTo>
                    <a:pt x="1289174" y="138055"/>
                    <a:pt x="1249355" y="177874"/>
                    <a:pt x="1200237" y="177874"/>
                  </a:cubicBezTo>
                  <a:lnTo>
                    <a:pt x="88937" y="177874"/>
                  </a:lnTo>
                  <a:cubicBezTo>
                    <a:pt x="39818" y="177874"/>
                    <a:pt x="0" y="138055"/>
                    <a:pt x="0" y="88937"/>
                  </a:cubicBezTo>
                  <a:lnTo>
                    <a:pt x="0" y="88937"/>
                  </a:lnTo>
                  <a:cubicBezTo>
                    <a:pt x="0" y="39818"/>
                    <a:pt x="39818" y="0"/>
                    <a:pt x="88937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89174" cy="225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Data Processing Workflow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414846" y="1975755"/>
            <a:ext cx="8125211" cy="875688"/>
            <a:chOff x="0" y="0"/>
            <a:chExt cx="2139973" cy="2306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9973" cy="230634"/>
            </a:xfrm>
            <a:custGeom>
              <a:avLst/>
              <a:gdLst/>
              <a:ahLst/>
              <a:cxnLst/>
              <a:rect r="r" b="b" t="t" l="l"/>
              <a:pathLst>
                <a:path h="230634" w="2139973">
                  <a:moveTo>
                    <a:pt x="0" y="0"/>
                  </a:moveTo>
                  <a:lnTo>
                    <a:pt x="2139973" y="0"/>
                  </a:lnTo>
                  <a:lnTo>
                    <a:pt x="2139973" y="230634"/>
                  </a:lnTo>
                  <a:lnTo>
                    <a:pt x="0" y="230634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39973" cy="2687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825614" y="3193540"/>
            <a:ext cx="4087340" cy="5132505"/>
          </a:xfrm>
          <a:custGeom>
            <a:avLst/>
            <a:gdLst/>
            <a:ahLst/>
            <a:cxnLst/>
            <a:rect r="r" b="b" t="t" l="l"/>
            <a:pathLst>
              <a:path h="5132505" w="4087340">
                <a:moveTo>
                  <a:pt x="0" y="0"/>
                </a:moveTo>
                <a:lnTo>
                  <a:pt x="4087341" y="0"/>
                </a:lnTo>
                <a:lnTo>
                  <a:pt x="4087341" y="5132505"/>
                </a:lnTo>
                <a:lnTo>
                  <a:pt x="0" y="51325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917438" y="8583220"/>
            <a:ext cx="2820685" cy="1039757"/>
            <a:chOff x="0" y="0"/>
            <a:chExt cx="742897" cy="27384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2897" cy="273846"/>
            </a:xfrm>
            <a:custGeom>
              <a:avLst/>
              <a:gdLst/>
              <a:ahLst/>
              <a:cxnLst/>
              <a:rect r="r" b="b" t="t" l="l"/>
              <a:pathLst>
                <a:path h="273846" w="742897">
                  <a:moveTo>
                    <a:pt x="136923" y="0"/>
                  </a:moveTo>
                  <a:lnTo>
                    <a:pt x="605974" y="0"/>
                  </a:lnTo>
                  <a:cubicBezTo>
                    <a:pt x="681594" y="0"/>
                    <a:pt x="742897" y="61302"/>
                    <a:pt x="742897" y="136923"/>
                  </a:cubicBezTo>
                  <a:lnTo>
                    <a:pt x="742897" y="136923"/>
                  </a:lnTo>
                  <a:cubicBezTo>
                    <a:pt x="742897" y="212543"/>
                    <a:pt x="681594" y="273846"/>
                    <a:pt x="605974" y="273846"/>
                  </a:cubicBezTo>
                  <a:lnTo>
                    <a:pt x="136923" y="273846"/>
                  </a:lnTo>
                  <a:cubicBezTo>
                    <a:pt x="61302" y="273846"/>
                    <a:pt x="0" y="212543"/>
                    <a:pt x="0" y="136923"/>
                  </a:cubicBezTo>
                  <a:lnTo>
                    <a:pt x="0" y="136923"/>
                  </a:lnTo>
                  <a:cubicBezTo>
                    <a:pt x="0" y="61302"/>
                    <a:pt x="61302" y="0"/>
                    <a:pt x="136923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42897" cy="321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  <a:r>
                <a:rPr lang="en-US" b="true" sz="20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Dashboard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3022502" y="9043672"/>
            <a:ext cx="350376" cy="350376"/>
          </a:xfrm>
          <a:custGeom>
            <a:avLst/>
            <a:gdLst/>
            <a:ahLst/>
            <a:cxnLst/>
            <a:rect r="r" b="b" t="t" l="l"/>
            <a:pathLst>
              <a:path h="350376" w="350376">
                <a:moveTo>
                  <a:pt x="0" y="0"/>
                </a:moveTo>
                <a:lnTo>
                  <a:pt x="350376" y="0"/>
                </a:lnTo>
                <a:lnTo>
                  <a:pt x="350376" y="350376"/>
                </a:lnTo>
                <a:lnTo>
                  <a:pt x="0" y="3503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613952" y="2309130"/>
            <a:ext cx="7727000" cy="533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8"/>
              </a:lnSpc>
            </a:pPr>
            <a:r>
              <a:rPr lang="en-US" b="true" sz="4904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ANALYTICAL APPROACH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257673" y="3619578"/>
            <a:ext cx="2132589" cy="2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b="true" sz="233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RAW DATASET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140540" y="4981328"/>
            <a:ext cx="2553043" cy="2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b="true" sz="233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DATA CLEANING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47471" y="6353175"/>
            <a:ext cx="2328801" cy="2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b="true" sz="233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PIVOT TABLES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72878" y="7716042"/>
            <a:ext cx="1604919" cy="247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3"/>
              </a:lnSpc>
            </a:pPr>
            <a:r>
              <a:rPr lang="en-US" b="true" sz="2337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CHARTS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26341" y="7695236"/>
            <a:ext cx="5484224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6"/>
              </a:lnSpc>
              <a:spcBef>
                <a:spcPct val="0"/>
              </a:spcBef>
            </a:pPr>
            <a:r>
              <a:rPr lang="en-US" sz="284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Missing Value Handling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213471" y="5934973"/>
            <a:ext cx="5309965" cy="489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80"/>
              </a:lnSpc>
              <a:spcBef>
                <a:spcPct val="0"/>
              </a:spcBef>
            </a:pPr>
            <a:r>
              <a:rPr lang="en-US" sz="284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Data Cleaning &amp; Validation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982677" y="6855262"/>
            <a:ext cx="5479730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6"/>
              </a:lnSpc>
              <a:spcBef>
                <a:spcPct val="0"/>
              </a:spcBef>
            </a:pPr>
            <a:r>
              <a:rPr lang="en-US" sz="284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Pivot Table Analysis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4973152" y="8493685"/>
            <a:ext cx="5460704" cy="489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6"/>
              </a:lnSpc>
              <a:spcBef>
                <a:spcPct val="0"/>
              </a:spcBef>
            </a:pPr>
            <a:r>
              <a:rPr lang="en-US" sz="284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Dashboard Development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82277" y="4139604"/>
            <a:ext cx="6359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↓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82277" y="5505450"/>
            <a:ext cx="6359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↓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691802" y="6877297"/>
            <a:ext cx="6359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↓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82277" y="8166025"/>
            <a:ext cx="635978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↓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3765051" y="4543449"/>
            <a:ext cx="4875781" cy="875226"/>
            <a:chOff x="0" y="0"/>
            <a:chExt cx="1284156" cy="2305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284156" cy="230512"/>
            </a:xfrm>
            <a:custGeom>
              <a:avLst/>
              <a:gdLst/>
              <a:ahLst/>
              <a:cxnLst/>
              <a:rect r="r" b="b" t="t" l="l"/>
              <a:pathLst>
                <a:path h="230512" w="1284156">
                  <a:moveTo>
                    <a:pt x="115256" y="0"/>
                  </a:moveTo>
                  <a:lnTo>
                    <a:pt x="1168900" y="0"/>
                  </a:lnTo>
                  <a:cubicBezTo>
                    <a:pt x="1199468" y="0"/>
                    <a:pt x="1228784" y="12143"/>
                    <a:pt x="1250399" y="33758"/>
                  </a:cubicBezTo>
                  <a:cubicBezTo>
                    <a:pt x="1272013" y="55372"/>
                    <a:pt x="1284156" y="84688"/>
                    <a:pt x="1284156" y="115256"/>
                  </a:cubicBezTo>
                  <a:lnTo>
                    <a:pt x="1284156" y="115256"/>
                  </a:lnTo>
                  <a:cubicBezTo>
                    <a:pt x="1284156" y="145824"/>
                    <a:pt x="1272013" y="175140"/>
                    <a:pt x="1250399" y="196754"/>
                  </a:cubicBezTo>
                  <a:cubicBezTo>
                    <a:pt x="1228784" y="218369"/>
                    <a:pt x="1199468" y="230512"/>
                    <a:pt x="1168900" y="230512"/>
                  </a:cubicBezTo>
                  <a:lnTo>
                    <a:pt x="115256" y="230512"/>
                  </a:lnTo>
                  <a:cubicBezTo>
                    <a:pt x="84688" y="230512"/>
                    <a:pt x="55372" y="218369"/>
                    <a:pt x="33758" y="196754"/>
                  </a:cubicBezTo>
                  <a:cubicBezTo>
                    <a:pt x="12143" y="175140"/>
                    <a:pt x="0" y="145824"/>
                    <a:pt x="0" y="115256"/>
                  </a:cubicBezTo>
                  <a:lnTo>
                    <a:pt x="0" y="115256"/>
                  </a:lnTo>
                  <a:cubicBezTo>
                    <a:pt x="0" y="84688"/>
                    <a:pt x="12143" y="55372"/>
                    <a:pt x="33758" y="33758"/>
                  </a:cubicBezTo>
                  <a:cubicBezTo>
                    <a:pt x="55372" y="12143"/>
                    <a:pt x="84688" y="0"/>
                    <a:pt x="115256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1284156" cy="287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Methodology Used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20367"/>
            <a:ext cx="16230600" cy="9210659"/>
            <a:chOff x="0" y="0"/>
            <a:chExt cx="4274726" cy="24258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425853"/>
            </a:xfrm>
            <a:custGeom>
              <a:avLst/>
              <a:gdLst/>
              <a:ahLst/>
              <a:cxnLst/>
              <a:rect r="r" b="b" t="t" l="l"/>
              <a:pathLst>
                <a:path h="242585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425853"/>
                  </a:lnTo>
                  <a:lnTo>
                    <a:pt x="0" y="2425853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463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81160" y="1028700"/>
            <a:ext cx="9925680" cy="678914"/>
            <a:chOff x="0" y="0"/>
            <a:chExt cx="2812881" cy="19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2881" cy="192400"/>
            </a:xfrm>
            <a:custGeom>
              <a:avLst/>
              <a:gdLst/>
              <a:ahLst/>
              <a:cxnLst/>
              <a:rect r="r" b="b" t="t" l="l"/>
              <a:pathLst>
                <a:path h="192400" w="2812881">
                  <a:moveTo>
                    <a:pt x="0" y="0"/>
                  </a:moveTo>
                  <a:lnTo>
                    <a:pt x="2812881" y="0"/>
                  </a:lnTo>
                  <a:lnTo>
                    <a:pt x="2812881" y="192400"/>
                  </a:lnTo>
                  <a:lnTo>
                    <a:pt x="0" y="192400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12881" cy="230500"/>
            </a:xfrm>
            <a:prstGeom prst="rect">
              <a:avLst/>
            </a:prstGeom>
          </p:spPr>
          <p:txBody>
            <a:bodyPr anchor="ctr" rtlCol="false" tIns="47211" lIns="47211" bIns="47211" rIns="47211"/>
            <a:lstStyle/>
            <a:p>
              <a:pPr algn="l">
                <a:lnSpc>
                  <a:spcPts val="18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620025" y="4964046"/>
            <a:ext cx="13431051" cy="4795020"/>
          </a:xfrm>
          <a:custGeom>
            <a:avLst/>
            <a:gdLst/>
            <a:ahLst/>
            <a:cxnLst/>
            <a:rect r="r" b="b" t="t" l="l"/>
            <a:pathLst>
              <a:path h="4795020" w="13431051">
                <a:moveTo>
                  <a:pt x="0" y="0"/>
                </a:moveTo>
                <a:lnTo>
                  <a:pt x="13431051" y="0"/>
                </a:lnTo>
                <a:lnTo>
                  <a:pt x="13431051" y="4795020"/>
                </a:lnTo>
                <a:lnTo>
                  <a:pt x="0" y="479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192" r="0" b="-5826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7603397" y="2287724"/>
            <a:ext cx="2717586" cy="635085"/>
            <a:chOff x="0" y="0"/>
            <a:chExt cx="715743" cy="16726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743" cy="167265"/>
            </a:xfrm>
            <a:custGeom>
              <a:avLst/>
              <a:gdLst/>
              <a:ahLst/>
              <a:cxnLst/>
              <a:rect r="r" b="b" t="t" l="l"/>
              <a:pathLst>
                <a:path h="167265" w="715743">
                  <a:moveTo>
                    <a:pt x="83633" y="0"/>
                  </a:moveTo>
                  <a:lnTo>
                    <a:pt x="632110" y="0"/>
                  </a:lnTo>
                  <a:cubicBezTo>
                    <a:pt x="678299" y="0"/>
                    <a:pt x="715743" y="37444"/>
                    <a:pt x="715743" y="83633"/>
                  </a:cubicBezTo>
                  <a:lnTo>
                    <a:pt x="715743" y="83633"/>
                  </a:lnTo>
                  <a:cubicBezTo>
                    <a:pt x="715743" y="105813"/>
                    <a:pt x="706931" y="127086"/>
                    <a:pt x="691247" y="142770"/>
                  </a:cubicBezTo>
                  <a:cubicBezTo>
                    <a:pt x="675563" y="158454"/>
                    <a:pt x="654291" y="167265"/>
                    <a:pt x="632110" y="167265"/>
                  </a:cubicBezTo>
                  <a:lnTo>
                    <a:pt x="83633" y="167265"/>
                  </a:lnTo>
                  <a:cubicBezTo>
                    <a:pt x="37444" y="167265"/>
                    <a:pt x="0" y="129822"/>
                    <a:pt x="0" y="83633"/>
                  </a:cubicBezTo>
                  <a:lnTo>
                    <a:pt x="0" y="83633"/>
                  </a:lnTo>
                  <a:cubicBezTo>
                    <a:pt x="0" y="37444"/>
                    <a:pt x="37444" y="0"/>
                    <a:pt x="83633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15743" cy="214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Key In</a:t>
              </a:r>
              <a:r>
                <a:rPr lang="en-US" b="true" sz="25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sights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138548" y="1242103"/>
            <a:ext cx="9894934" cy="49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6"/>
              </a:lnSpc>
            </a:pPr>
            <a:r>
              <a:rPr lang="en-US" b="true" sz="4595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RESTAURANT RATINGS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80007" y="3051237"/>
            <a:ext cx="7764364" cy="1462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3075" indent="-301538" lvl="1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Philippines has the highest average rating.</a:t>
            </a:r>
          </a:p>
          <a:p>
            <a:pPr algn="l" marL="603075" indent="-301538" lvl="1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Most countries maintain ratings above 3.5</a:t>
            </a:r>
          </a:p>
          <a:p>
            <a:pPr algn="l" marL="603075" indent="-301538" lvl="1">
              <a:lnSpc>
                <a:spcPts val="3910"/>
              </a:lnSpc>
              <a:buFont typeface="Arial"/>
              <a:buChar char="•"/>
            </a:pPr>
            <a:r>
              <a:rPr lang="en-US" sz="279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Overall average rating is 3.9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554220"/>
            <a:ext cx="7600950" cy="1504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99"/>
              </a:lnSpc>
            </a:pPr>
            <a:r>
              <a:rPr lang="en-US" b="true" sz="4999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MARKET PRESENCE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230739" y="5114925"/>
            <a:ext cx="3233002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</a:pPr>
            <a:r>
              <a:rPr lang="en-US" b="true" sz="3200">
                <a:solidFill>
                  <a:srgbClr val="BDFF00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Key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658242" y="6329400"/>
            <a:ext cx="6143983" cy="390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India contributes the largest share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of restaurants in the dataset.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Restaurant distribution is heavily concentrated in the Indian market.</a:t>
            </a:r>
          </a:p>
          <a:p>
            <a:pPr algn="l">
              <a:lnSpc>
                <a:spcPts val="3120"/>
              </a:lnSpc>
            </a:pP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Other countries contribute only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a small portion of total restaurant</a:t>
            </a:r>
          </a:p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listings</a:t>
            </a:r>
          </a:p>
          <a:p>
            <a:pPr algn="l">
              <a:lnSpc>
                <a:spcPts val="3120"/>
              </a:lnSpc>
            </a:pP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3914466"/>
            <a:ext cx="10629542" cy="4920366"/>
          </a:xfrm>
          <a:custGeom>
            <a:avLst/>
            <a:gdLst/>
            <a:ahLst/>
            <a:cxnLst/>
            <a:rect r="r" b="b" t="t" l="l"/>
            <a:pathLst>
              <a:path h="4920366" w="10629542">
                <a:moveTo>
                  <a:pt x="0" y="0"/>
                </a:moveTo>
                <a:lnTo>
                  <a:pt x="10629542" y="0"/>
                </a:lnTo>
                <a:lnTo>
                  <a:pt x="10629542" y="4920365"/>
                </a:lnTo>
                <a:lnTo>
                  <a:pt x="0" y="49203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70" t="0" r="-727" b="-3634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689256" y="3691584"/>
            <a:ext cx="6358529" cy="5344658"/>
            <a:chOff x="0" y="0"/>
            <a:chExt cx="1674674" cy="14076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74674" cy="1407647"/>
            </a:xfrm>
            <a:custGeom>
              <a:avLst/>
              <a:gdLst/>
              <a:ahLst/>
              <a:cxnLst/>
              <a:rect r="r" b="b" t="t" l="l"/>
              <a:pathLst>
                <a:path h="1407647" w="1674674">
                  <a:moveTo>
                    <a:pt x="0" y="0"/>
                  </a:moveTo>
                  <a:lnTo>
                    <a:pt x="1674674" y="0"/>
                  </a:lnTo>
                  <a:lnTo>
                    <a:pt x="1674674" y="1407647"/>
                  </a:lnTo>
                  <a:lnTo>
                    <a:pt x="0" y="1407647"/>
                  </a:lnTo>
                  <a:close/>
                </a:path>
              </a:pathLst>
            </a:custGeom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674674" cy="1445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448741" y="4050031"/>
            <a:ext cx="3120536" cy="760094"/>
            <a:chOff x="0" y="0"/>
            <a:chExt cx="821869" cy="20018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1869" cy="200189"/>
            </a:xfrm>
            <a:custGeom>
              <a:avLst/>
              <a:gdLst/>
              <a:ahLst/>
              <a:cxnLst/>
              <a:rect r="r" b="b" t="t" l="l"/>
              <a:pathLst>
                <a:path h="200189" w="821869">
                  <a:moveTo>
                    <a:pt x="100095" y="0"/>
                  </a:moveTo>
                  <a:lnTo>
                    <a:pt x="721775" y="0"/>
                  </a:lnTo>
                  <a:cubicBezTo>
                    <a:pt x="748322" y="0"/>
                    <a:pt x="773781" y="10546"/>
                    <a:pt x="792552" y="29317"/>
                  </a:cubicBezTo>
                  <a:cubicBezTo>
                    <a:pt x="811324" y="48088"/>
                    <a:pt x="821869" y="73548"/>
                    <a:pt x="821869" y="100095"/>
                  </a:cubicBezTo>
                  <a:lnTo>
                    <a:pt x="821869" y="100095"/>
                  </a:lnTo>
                  <a:cubicBezTo>
                    <a:pt x="821869" y="155375"/>
                    <a:pt x="777056" y="200189"/>
                    <a:pt x="721775" y="200189"/>
                  </a:cubicBezTo>
                  <a:lnTo>
                    <a:pt x="100095" y="200189"/>
                  </a:lnTo>
                  <a:cubicBezTo>
                    <a:pt x="44814" y="200189"/>
                    <a:pt x="0" y="155375"/>
                    <a:pt x="0" y="100095"/>
                  </a:cubicBezTo>
                  <a:lnTo>
                    <a:pt x="0" y="100095"/>
                  </a:lnTo>
                  <a:cubicBezTo>
                    <a:pt x="0" y="44814"/>
                    <a:pt x="44814" y="0"/>
                    <a:pt x="100095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21869" cy="2573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b="true" sz="3199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Cost Insights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769572" y="1602224"/>
            <a:ext cx="5589763" cy="100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b="true" sz="4974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COST ANALYSIS </a:t>
            </a:r>
          </a:p>
          <a:p>
            <a:pPr algn="ctr">
              <a:lnSpc>
                <a:spcPts val="3730"/>
              </a:lnSpc>
            </a:pPr>
            <a:r>
              <a:rPr lang="en-US" b="true" sz="4974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BY COUNTRY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5390" y="1346053"/>
            <a:ext cx="5873946" cy="1259404"/>
            <a:chOff x="0" y="0"/>
            <a:chExt cx="2435816" cy="5222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35816" cy="522251"/>
            </a:xfrm>
            <a:custGeom>
              <a:avLst/>
              <a:gdLst/>
              <a:ahLst/>
              <a:cxnLst/>
              <a:rect r="r" b="b" t="t" l="l"/>
              <a:pathLst>
                <a:path h="522251" w="2435816">
                  <a:moveTo>
                    <a:pt x="0" y="0"/>
                  </a:moveTo>
                  <a:lnTo>
                    <a:pt x="2435816" y="0"/>
                  </a:lnTo>
                  <a:lnTo>
                    <a:pt x="2435816" y="522251"/>
                  </a:lnTo>
                  <a:lnTo>
                    <a:pt x="0" y="522251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435816" cy="560351"/>
            </a:xfrm>
            <a:prstGeom prst="rect">
              <a:avLst/>
            </a:prstGeom>
          </p:spPr>
          <p:txBody>
            <a:bodyPr anchor="ctr" rtlCol="false" tIns="32264" lIns="32264" bIns="32264" rIns="32264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117300" y="3691584"/>
            <a:ext cx="9464307" cy="5354183"/>
          </a:xfrm>
          <a:custGeom>
            <a:avLst/>
            <a:gdLst/>
            <a:ahLst/>
            <a:cxnLst/>
            <a:rect r="r" b="b" t="t" l="l"/>
            <a:pathLst>
              <a:path h="5354183" w="9464307">
                <a:moveTo>
                  <a:pt x="0" y="0"/>
                </a:moveTo>
                <a:lnTo>
                  <a:pt x="9464306" y="0"/>
                </a:lnTo>
                <a:lnTo>
                  <a:pt x="9464306" y="5354183"/>
                </a:lnTo>
                <a:lnTo>
                  <a:pt x="0" y="53541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777066" y="5411150"/>
            <a:ext cx="6270719" cy="323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29" indent="-284514" lvl="1">
              <a:lnSpc>
                <a:spcPts val="3689"/>
              </a:lnSpc>
              <a:buFont typeface="Arial"/>
              <a:buChar char="•"/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Singapore has the highest average </a:t>
            </a:r>
          </a:p>
          <a:p>
            <a:pPr algn="l">
              <a:lnSpc>
                <a:spcPts val="3689"/>
              </a:lnSpc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 dining cost.</a:t>
            </a:r>
          </a:p>
          <a:p>
            <a:pPr algn="l">
              <a:lnSpc>
                <a:spcPts val="3689"/>
              </a:lnSpc>
            </a:pPr>
          </a:p>
          <a:p>
            <a:pPr algn="l" marL="569029" indent="-284514" lvl="1">
              <a:lnSpc>
                <a:spcPts val="3689"/>
              </a:lnSpc>
              <a:buFont typeface="Arial"/>
              <a:buChar char="•"/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India remains one of the most affordable markets, while Philippines and Qatar are premium markets.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72213"/>
            <a:chOff x="0" y="0"/>
            <a:chExt cx="4545659" cy="24947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94739"/>
            </a:xfrm>
            <a:custGeom>
              <a:avLst/>
              <a:gdLst/>
              <a:ahLst/>
              <a:cxnLst/>
              <a:rect r="r" b="b" t="t" l="l"/>
              <a:pathLst>
                <a:path h="2494739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94739"/>
                  </a:lnTo>
                  <a:lnTo>
                    <a:pt x="0" y="2494739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328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1544695"/>
            <a:ext cx="7345423" cy="149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07"/>
              </a:lnSpc>
            </a:pPr>
            <a:r>
              <a:rPr lang="en-US" b="true" sz="4922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CUISINE POPULARITY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115317" y="6903003"/>
            <a:ext cx="6143983" cy="51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60"/>
              </a:lnSpc>
            </a:pPr>
            <a:r>
              <a:rPr lang="en-US" b="true" sz="3200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Key </a:t>
            </a:r>
            <a:r>
              <a:rPr lang="en-US" b="true" sz="3200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115317" y="7698105"/>
            <a:ext cx="6143983" cy="156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North Indian cuisine is the most popular cuisine category.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Fast Food and Chinese cuisines also have strong restaurant presence.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28700" y="3987721"/>
            <a:ext cx="9592807" cy="5251256"/>
          </a:xfrm>
          <a:custGeom>
            <a:avLst/>
            <a:gdLst/>
            <a:ahLst/>
            <a:cxnLst/>
            <a:rect r="r" b="b" t="t" l="l"/>
            <a:pathLst>
              <a:path h="5251256" w="9592807">
                <a:moveTo>
                  <a:pt x="0" y="0"/>
                </a:moveTo>
                <a:lnTo>
                  <a:pt x="9592807" y="0"/>
                </a:lnTo>
                <a:lnTo>
                  <a:pt x="9592807" y="5251256"/>
                </a:lnTo>
                <a:lnTo>
                  <a:pt x="0" y="5251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011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79145" y="5143500"/>
            <a:ext cx="3496981" cy="675364"/>
            <a:chOff x="0" y="0"/>
            <a:chExt cx="921016" cy="1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21015" cy="177874"/>
            </a:xfrm>
            <a:custGeom>
              <a:avLst/>
              <a:gdLst/>
              <a:ahLst/>
              <a:cxnLst/>
              <a:rect r="r" b="b" t="t" l="l"/>
              <a:pathLst>
                <a:path h="177874" w="921015">
                  <a:moveTo>
                    <a:pt x="88937" y="0"/>
                  </a:moveTo>
                  <a:lnTo>
                    <a:pt x="832079" y="0"/>
                  </a:lnTo>
                  <a:cubicBezTo>
                    <a:pt x="881197" y="0"/>
                    <a:pt x="921015" y="39818"/>
                    <a:pt x="921015" y="88937"/>
                  </a:cubicBezTo>
                  <a:lnTo>
                    <a:pt x="921015" y="88937"/>
                  </a:lnTo>
                  <a:cubicBezTo>
                    <a:pt x="921015" y="138055"/>
                    <a:pt x="881197" y="177874"/>
                    <a:pt x="832079" y="177874"/>
                  </a:cubicBezTo>
                  <a:lnTo>
                    <a:pt x="88937" y="177874"/>
                  </a:lnTo>
                  <a:cubicBezTo>
                    <a:pt x="39818" y="177874"/>
                    <a:pt x="0" y="138055"/>
                    <a:pt x="0" y="88937"/>
                  </a:cubicBezTo>
                  <a:lnTo>
                    <a:pt x="0" y="88937"/>
                  </a:lnTo>
                  <a:cubicBezTo>
                    <a:pt x="0" y="39818"/>
                    <a:pt x="39818" y="0"/>
                    <a:pt x="88937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21016" cy="225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b="true" sz="23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Delivery Insights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116148" y="1605578"/>
            <a:ext cx="9085131" cy="681741"/>
            <a:chOff x="0" y="0"/>
            <a:chExt cx="2392792" cy="1795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92792" cy="179553"/>
            </a:xfrm>
            <a:custGeom>
              <a:avLst/>
              <a:gdLst/>
              <a:ahLst/>
              <a:cxnLst/>
              <a:rect r="r" b="b" t="t" l="l"/>
              <a:pathLst>
                <a:path h="179553" w="2392792">
                  <a:moveTo>
                    <a:pt x="0" y="0"/>
                  </a:moveTo>
                  <a:lnTo>
                    <a:pt x="2392792" y="0"/>
                  </a:lnTo>
                  <a:lnTo>
                    <a:pt x="2392792" y="179553"/>
                  </a:lnTo>
                  <a:lnTo>
                    <a:pt x="0" y="179553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92792" cy="2176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1105888" y="2969426"/>
            <a:ext cx="16153412" cy="0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false" flipV="false" rot="0">
            <a:off x="7056977" y="3071860"/>
            <a:ext cx="10088025" cy="6029191"/>
          </a:xfrm>
          <a:custGeom>
            <a:avLst/>
            <a:gdLst/>
            <a:ahLst/>
            <a:cxnLst/>
            <a:rect r="r" b="b" t="t" l="l"/>
            <a:pathLst>
              <a:path h="6029191" w="10088025">
                <a:moveTo>
                  <a:pt x="0" y="0"/>
                </a:moveTo>
                <a:lnTo>
                  <a:pt x="10088025" y="0"/>
                </a:lnTo>
                <a:lnTo>
                  <a:pt x="10088025" y="6029191"/>
                </a:lnTo>
                <a:lnTo>
                  <a:pt x="0" y="6029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93" r="-1051" b="-2793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3943720" y="1810289"/>
            <a:ext cx="9752413" cy="5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5"/>
              </a:lnSpc>
            </a:pPr>
            <a:r>
              <a:rPr lang="en-US" b="true" sz="5086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ONLINE DELIVERY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79135" y="6124556"/>
            <a:ext cx="6093127" cy="277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029" indent="-284514" lvl="1">
              <a:lnSpc>
                <a:spcPts val="3689"/>
              </a:lnSpc>
              <a:buFont typeface="Arial"/>
              <a:buChar char="•"/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Only 25.7% restaurants provide online delivery.</a:t>
            </a:r>
          </a:p>
          <a:p>
            <a:pPr algn="l" marL="569029" indent="-284514" lvl="1">
              <a:lnSpc>
                <a:spcPts val="3689"/>
              </a:lnSpc>
              <a:buFont typeface="Arial"/>
              <a:buChar char="•"/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74.3% restaurants do not offer delivery.</a:t>
            </a:r>
          </a:p>
          <a:p>
            <a:pPr algn="l" marL="569029" indent="-284514" lvl="1">
              <a:lnSpc>
                <a:spcPts val="3689"/>
              </a:lnSpc>
              <a:buFont typeface="Arial"/>
              <a:buChar char="•"/>
            </a:pPr>
            <a:r>
              <a:rPr lang="en-US" sz="2635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Online delivery remains a key competitive advantage.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98944" y="863843"/>
            <a:ext cx="6520736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  <a:spcBef>
                <a:spcPct val="0"/>
              </a:spcBef>
            </a:pPr>
            <a:r>
              <a:rPr lang="en-US" b="true" sz="5600" u="none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RESTAURANT OPENINGS BY YEAR ANALYSIS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518754" y="6866256"/>
            <a:ext cx="652073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  <a:spcBef>
                <a:spcPct val="0"/>
              </a:spcBef>
            </a:pPr>
            <a:r>
              <a:rPr lang="en-US" b="true" sz="3000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Bu</a:t>
            </a:r>
            <a:r>
              <a:rPr lang="en-US" b="true" sz="3000" u="none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siness Insights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8944" y="7602855"/>
            <a:ext cx="6960356" cy="1655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Restaurant expansion remained steady throughout the observed period.</a:t>
            </a:r>
          </a:p>
          <a:p>
            <a:pPr algn="l" marL="453390" indent="-226695" lvl="1">
              <a:lnSpc>
                <a:spcPts val="336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u="none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Opening activity increased after 2016, reaching its peak in 2018.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14350" y="1959056"/>
            <a:ext cx="8629650" cy="6368888"/>
          </a:xfrm>
          <a:custGeom>
            <a:avLst/>
            <a:gdLst/>
            <a:ahLst/>
            <a:cxnLst/>
            <a:rect r="r" b="b" t="t" l="l"/>
            <a:pathLst>
              <a:path h="6368888" w="8629650">
                <a:moveTo>
                  <a:pt x="0" y="0"/>
                </a:moveTo>
                <a:lnTo>
                  <a:pt x="8629650" y="0"/>
                </a:lnTo>
                <a:lnTo>
                  <a:pt x="8629650" y="6368888"/>
                </a:lnTo>
                <a:lnTo>
                  <a:pt x="0" y="63688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2842" y="505365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rot="0">
            <a:off x="0" y="10096500"/>
            <a:ext cx="18288000" cy="0"/>
          </a:xfrm>
          <a:prstGeom prst="line">
            <a:avLst/>
          </a:prstGeom>
          <a:ln cap="flat" w="190500">
            <a:solidFill>
              <a:srgbClr val="110FE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5544083" y="1028700"/>
            <a:ext cx="11715217" cy="5330309"/>
          </a:xfrm>
          <a:custGeom>
            <a:avLst/>
            <a:gdLst/>
            <a:ahLst/>
            <a:cxnLst/>
            <a:rect r="r" b="b" t="t" l="l"/>
            <a:pathLst>
              <a:path h="5330309" w="11715217">
                <a:moveTo>
                  <a:pt x="0" y="0"/>
                </a:moveTo>
                <a:lnTo>
                  <a:pt x="11715217" y="0"/>
                </a:lnTo>
                <a:lnTo>
                  <a:pt x="11715217" y="5330309"/>
                </a:lnTo>
                <a:lnTo>
                  <a:pt x="0" y="5330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6715125"/>
            <a:ext cx="5632847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20"/>
              </a:lnSpc>
            </a:pPr>
            <a:r>
              <a:rPr lang="en-US" b="true" sz="5600">
                <a:solidFill>
                  <a:srgbClr val="FFFFFF"/>
                </a:solidFill>
                <a:latin typeface="Lora Bold"/>
                <a:ea typeface="Lora Bold"/>
                <a:cs typeface="Lora Bold"/>
                <a:sym typeface="Lora Bold"/>
              </a:rPr>
              <a:t>CUSTOMER ENGAGEMENT ANALYSIS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05215" y="1975755"/>
            <a:ext cx="5632847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key </a:t>
            </a:r>
            <a:r>
              <a:rPr lang="en-US" b="true" sz="3200">
                <a:solidFill>
                  <a:srgbClr val="FFFFFF"/>
                </a:solidFill>
                <a:latin typeface="Cinzel Decorative Bold"/>
                <a:ea typeface="Cinzel Decorative Bold"/>
                <a:cs typeface="Cinzel Decorative Bold"/>
                <a:sym typeface="Cinzel Decorative Bold"/>
              </a:rPr>
              <a:t>Insights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942" y="2633028"/>
            <a:ext cx="5632847" cy="2524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4473" indent="-242237" lvl="1">
              <a:lnSpc>
                <a:spcPts val="2917"/>
              </a:lnSpc>
              <a:buFont typeface="Arial"/>
              <a:buChar char="•"/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Indonesia records the</a:t>
            </a:r>
          </a:p>
          <a:p>
            <a:pPr algn="l" marL="0" indent="0" lvl="0">
              <a:lnSpc>
                <a:spcPts val="2917"/>
              </a:lnSpc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 </a:t>
            </a: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highest average customer</a:t>
            </a:r>
          </a:p>
          <a:p>
            <a:pPr algn="l" marL="0" indent="0" lvl="0">
              <a:lnSpc>
                <a:spcPts val="2917"/>
              </a:lnSpc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 votes.</a:t>
            </a:r>
          </a:p>
          <a:p>
            <a:pPr algn="l" marL="0" indent="0" lvl="0">
              <a:lnSpc>
                <a:spcPts val="2917"/>
              </a:lnSpc>
            </a:pPr>
          </a:p>
          <a:p>
            <a:pPr algn="l" marL="484473" indent="-242237" lvl="1">
              <a:lnSpc>
                <a:spcPts val="2917"/>
              </a:lnSpc>
              <a:buFont typeface="Arial"/>
              <a:buChar char="•"/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Customer engagement</a:t>
            </a:r>
          </a:p>
          <a:p>
            <a:pPr algn="l" marL="0" indent="0" lvl="0">
              <a:lnSpc>
                <a:spcPts val="2917"/>
              </a:lnSpc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 </a:t>
            </a: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varies significantly across</a:t>
            </a:r>
          </a:p>
          <a:p>
            <a:pPr algn="l" marL="0" indent="0" lvl="0">
              <a:lnSpc>
                <a:spcPts val="2917"/>
              </a:lnSpc>
            </a:pPr>
            <a:r>
              <a:rPr lang="en-US" sz="2243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       countries.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22776"/>
            <a:ext cx="15811642" cy="9066819"/>
            <a:chOff x="0" y="0"/>
            <a:chExt cx="4164383" cy="23879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64383" cy="2387969"/>
            </a:xfrm>
            <a:custGeom>
              <a:avLst/>
              <a:gdLst/>
              <a:ahLst/>
              <a:cxnLst/>
              <a:rect r="r" b="b" t="t" l="l"/>
              <a:pathLst>
                <a:path h="2387969" w="4164383">
                  <a:moveTo>
                    <a:pt x="0" y="0"/>
                  </a:moveTo>
                  <a:lnTo>
                    <a:pt x="4164383" y="0"/>
                  </a:lnTo>
                  <a:lnTo>
                    <a:pt x="4164383" y="2387969"/>
                  </a:lnTo>
                  <a:lnTo>
                    <a:pt x="0" y="2387969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164383" cy="24260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77697" y="6660517"/>
            <a:ext cx="5011906" cy="701039"/>
            <a:chOff x="0" y="0"/>
            <a:chExt cx="1320008" cy="1846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20008" cy="184636"/>
            </a:xfrm>
            <a:custGeom>
              <a:avLst/>
              <a:gdLst/>
              <a:ahLst/>
              <a:cxnLst/>
              <a:rect r="r" b="b" t="t" l="l"/>
              <a:pathLst>
                <a:path h="184636" w="1320008">
                  <a:moveTo>
                    <a:pt x="92318" y="0"/>
                  </a:moveTo>
                  <a:lnTo>
                    <a:pt x="1227690" y="0"/>
                  </a:lnTo>
                  <a:cubicBezTo>
                    <a:pt x="1252174" y="0"/>
                    <a:pt x="1275656" y="9726"/>
                    <a:pt x="1292969" y="27039"/>
                  </a:cubicBezTo>
                  <a:cubicBezTo>
                    <a:pt x="1310282" y="44352"/>
                    <a:pt x="1320008" y="67834"/>
                    <a:pt x="1320008" y="92318"/>
                  </a:cubicBezTo>
                  <a:lnTo>
                    <a:pt x="1320008" y="92318"/>
                  </a:lnTo>
                  <a:cubicBezTo>
                    <a:pt x="1320008" y="116802"/>
                    <a:pt x="1310282" y="140284"/>
                    <a:pt x="1292969" y="157596"/>
                  </a:cubicBezTo>
                  <a:cubicBezTo>
                    <a:pt x="1275656" y="174909"/>
                    <a:pt x="1252174" y="184636"/>
                    <a:pt x="1227690" y="184636"/>
                  </a:cubicBezTo>
                  <a:lnTo>
                    <a:pt x="92318" y="184636"/>
                  </a:lnTo>
                  <a:cubicBezTo>
                    <a:pt x="67834" y="184636"/>
                    <a:pt x="44352" y="174909"/>
                    <a:pt x="27039" y="157596"/>
                  </a:cubicBezTo>
                  <a:cubicBezTo>
                    <a:pt x="9726" y="140284"/>
                    <a:pt x="0" y="116802"/>
                    <a:pt x="0" y="92318"/>
                  </a:cubicBezTo>
                  <a:lnTo>
                    <a:pt x="0" y="92318"/>
                  </a:lnTo>
                  <a:cubicBezTo>
                    <a:pt x="0" y="67834"/>
                    <a:pt x="9726" y="44352"/>
                    <a:pt x="27039" y="27039"/>
                  </a:cubicBezTo>
                  <a:cubicBezTo>
                    <a:pt x="44352" y="9726"/>
                    <a:pt x="67834" y="0"/>
                    <a:pt x="92318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320008" cy="2513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b="true" sz="2899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Data Quality Improvements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46401" y="3082566"/>
            <a:ext cx="5325237" cy="1112939"/>
            <a:chOff x="0" y="0"/>
            <a:chExt cx="1402532" cy="293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02532" cy="293120"/>
            </a:xfrm>
            <a:custGeom>
              <a:avLst/>
              <a:gdLst/>
              <a:ahLst/>
              <a:cxnLst/>
              <a:rect r="r" b="b" t="t" l="l"/>
              <a:pathLst>
                <a:path h="293120" w="1402532">
                  <a:moveTo>
                    <a:pt x="0" y="0"/>
                  </a:moveTo>
                  <a:lnTo>
                    <a:pt x="1402532" y="0"/>
                  </a:lnTo>
                  <a:lnTo>
                    <a:pt x="1402532" y="293120"/>
                  </a:lnTo>
                  <a:lnTo>
                    <a:pt x="0" y="293120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402532" cy="302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4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36447" y="1771580"/>
            <a:ext cx="9599841" cy="3384605"/>
          </a:xfrm>
          <a:custGeom>
            <a:avLst/>
            <a:gdLst/>
            <a:ahLst/>
            <a:cxnLst/>
            <a:rect r="r" b="b" t="t" l="l"/>
            <a:pathLst>
              <a:path h="3384605" w="9599841">
                <a:moveTo>
                  <a:pt x="0" y="0"/>
                </a:moveTo>
                <a:lnTo>
                  <a:pt x="9599842" y="0"/>
                </a:lnTo>
                <a:lnTo>
                  <a:pt x="9599842" y="3384605"/>
                </a:lnTo>
                <a:lnTo>
                  <a:pt x="0" y="33846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1" t="0" r="-39850" b="-24817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55497" y="6158972"/>
            <a:ext cx="9580791" cy="3427016"/>
          </a:xfrm>
          <a:custGeom>
            <a:avLst/>
            <a:gdLst/>
            <a:ahLst/>
            <a:cxnLst/>
            <a:rect r="r" b="b" t="t" l="l"/>
            <a:pathLst>
              <a:path h="3427016" w="9580791">
                <a:moveTo>
                  <a:pt x="0" y="0"/>
                </a:moveTo>
                <a:lnTo>
                  <a:pt x="9580792" y="0"/>
                </a:lnTo>
                <a:lnTo>
                  <a:pt x="9580792" y="3427016"/>
                </a:lnTo>
                <a:lnTo>
                  <a:pt x="0" y="3427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25" t="0" r="-66611" b="-53695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3495617" y="790575"/>
            <a:ext cx="2645956" cy="778662"/>
            <a:chOff x="0" y="0"/>
            <a:chExt cx="696877" cy="2050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6877" cy="205080"/>
            </a:xfrm>
            <a:custGeom>
              <a:avLst/>
              <a:gdLst/>
              <a:ahLst/>
              <a:cxnLst/>
              <a:rect r="r" b="b" t="t" l="l"/>
              <a:pathLst>
                <a:path h="205080" w="696877">
                  <a:moveTo>
                    <a:pt x="102540" y="0"/>
                  </a:moveTo>
                  <a:lnTo>
                    <a:pt x="594337" y="0"/>
                  </a:lnTo>
                  <a:cubicBezTo>
                    <a:pt x="650969" y="0"/>
                    <a:pt x="696877" y="45909"/>
                    <a:pt x="696877" y="102540"/>
                  </a:cubicBezTo>
                  <a:lnTo>
                    <a:pt x="696877" y="102540"/>
                  </a:lnTo>
                  <a:cubicBezTo>
                    <a:pt x="696877" y="159171"/>
                    <a:pt x="650969" y="205080"/>
                    <a:pt x="594337" y="205080"/>
                  </a:cubicBezTo>
                  <a:lnTo>
                    <a:pt x="102540" y="205080"/>
                  </a:lnTo>
                  <a:cubicBezTo>
                    <a:pt x="45909" y="205080"/>
                    <a:pt x="0" y="159171"/>
                    <a:pt x="0" y="102540"/>
                  </a:cubicBezTo>
                  <a:lnTo>
                    <a:pt x="0" y="102540"/>
                  </a:lnTo>
                  <a:cubicBezTo>
                    <a:pt x="0" y="45909"/>
                    <a:pt x="45909" y="0"/>
                    <a:pt x="102540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696877" cy="233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before cleaning 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587924" y="5313635"/>
            <a:ext cx="2480393" cy="778662"/>
            <a:chOff x="0" y="0"/>
            <a:chExt cx="653272" cy="205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3272" cy="205080"/>
            </a:xfrm>
            <a:custGeom>
              <a:avLst/>
              <a:gdLst/>
              <a:ahLst/>
              <a:cxnLst/>
              <a:rect r="r" b="b" t="t" l="l"/>
              <a:pathLst>
                <a:path h="205080" w="653272">
                  <a:moveTo>
                    <a:pt x="102540" y="0"/>
                  </a:moveTo>
                  <a:lnTo>
                    <a:pt x="550732" y="0"/>
                  </a:lnTo>
                  <a:cubicBezTo>
                    <a:pt x="607364" y="0"/>
                    <a:pt x="653272" y="45909"/>
                    <a:pt x="653272" y="102540"/>
                  </a:cubicBezTo>
                  <a:lnTo>
                    <a:pt x="653272" y="102540"/>
                  </a:lnTo>
                  <a:cubicBezTo>
                    <a:pt x="653272" y="129735"/>
                    <a:pt x="642469" y="155817"/>
                    <a:pt x="623239" y="175047"/>
                  </a:cubicBezTo>
                  <a:cubicBezTo>
                    <a:pt x="604009" y="194277"/>
                    <a:pt x="577928" y="205080"/>
                    <a:pt x="550732" y="205080"/>
                  </a:cubicBezTo>
                  <a:lnTo>
                    <a:pt x="102540" y="205080"/>
                  </a:lnTo>
                  <a:cubicBezTo>
                    <a:pt x="45909" y="205080"/>
                    <a:pt x="0" y="159171"/>
                    <a:pt x="0" y="102540"/>
                  </a:cubicBezTo>
                  <a:lnTo>
                    <a:pt x="0" y="102540"/>
                  </a:lnTo>
                  <a:cubicBezTo>
                    <a:pt x="0" y="45909"/>
                    <a:pt x="45909" y="0"/>
                    <a:pt x="102540" y="0"/>
                  </a:cubicBezTo>
                  <a:close/>
                </a:path>
              </a:pathLst>
            </a:custGeom>
            <a:solidFill>
              <a:srgbClr val="9A7C62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653272" cy="2336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after cleaning</a:t>
              </a:r>
            </a:p>
            <a:p>
              <a:pPr algn="ctr">
                <a:lnSpc>
                  <a:spcPts val="2659"/>
                </a:lnSpc>
              </a:pPr>
              <a:r>
                <a:rPr lang="en-US" b="true" sz="18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↓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1346401" y="3234660"/>
            <a:ext cx="5493941" cy="103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5151" b="true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DATA CLEANING </a:t>
            </a:r>
          </a:p>
          <a:p>
            <a:pPr algn="l">
              <a:lnSpc>
                <a:spcPts val="3863"/>
              </a:lnSpc>
            </a:pPr>
            <a:r>
              <a:rPr lang="en-US" b="true" sz="5151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&amp; PREPARATION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346401" y="7615741"/>
            <a:ext cx="5760499" cy="1642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235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Removed Missing Values</a:t>
            </a:r>
          </a:p>
          <a:p>
            <a:pPr algn="just">
              <a:lnSpc>
                <a:spcPts val="3300"/>
              </a:lnSpc>
            </a:pPr>
            <a:r>
              <a:rPr lang="en-US" sz="235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Standardized Country &amp; City Names</a:t>
            </a:r>
          </a:p>
          <a:p>
            <a:pPr algn="just">
              <a:lnSpc>
                <a:spcPts val="3300"/>
              </a:lnSpc>
            </a:pPr>
            <a:r>
              <a:rPr lang="en-US" sz="2357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✓ Prepared Dataset for Analysis</a:t>
            </a:r>
          </a:p>
          <a:p>
            <a:pPr algn="just">
              <a:lnSpc>
                <a:spcPts val="33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62631"/>
            <a:ext cx="16230600" cy="9761738"/>
            <a:chOff x="0" y="0"/>
            <a:chExt cx="4274726" cy="257099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570993"/>
            </a:xfrm>
            <a:custGeom>
              <a:avLst/>
              <a:gdLst/>
              <a:ahLst/>
              <a:cxnLst/>
              <a:rect r="r" b="b" t="t" l="l"/>
              <a:pathLst>
                <a:path h="257099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570993"/>
                  </a:lnTo>
                  <a:lnTo>
                    <a:pt x="0" y="2570993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60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88505" y="502068"/>
            <a:ext cx="13192180" cy="540010"/>
            <a:chOff x="0" y="0"/>
            <a:chExt cx="3474484" cy="1422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474484" cy="142225"/>
            </a:xfrm>
            <a:custGeom>
              <a:avLst/>
              <a:gdLst/>
              <a:ahLst/>
              <a:cxnLst/>
              <a:rect r="r" b="b" t="t" l="l"/>
              <a:pathLst>
                <a:path h="142225" w="3474484">
                  <a:moveTo>
                    <a:pt x="0" y="0"/>
                  </a:moveTo>
                  <a:lnTo>
                    <a:pt x="3474484" y="0"/>
                  </a:lnTo>
                  <a:lnTo>
                    <a:pt x="3474484" y="142225"/>
                  </a:lnTo>
                  <a:lnTo>
                    <a:pt x="0" y="142225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474484" cy="151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04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028700" y="1433789"/>
            <a:ext cx="16230600" cy="0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2923445" y="2144355"/>
            <a:ext cx="12345859" cy="7736583"/>
          </a:xfrm>
          <a:custGeom>
            <a:avLst/>
            <a:gdLst/>
            <a:ahLst/>
            <a:cxnLst/>
            <a:rect r="r" b="b" t="t" l="l"/>
            <a:pathLst>
              <a:path h="7736583" w="12345859">
                <a:moveTo>
                  <a:pt x="0" y="0"/>
                </a:moveTo>
                <a:lnTo>
                  <a:pt x="12345860" y="0"/>
                </a:lnTo>
                <a:lnTo>
                  <a:pt x="12345860" y="7736583"/>
                </a:lnTo>
                <a:lnTo>
                  <a:pt x="0" y="7736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00911" y="663993"/>
            <a:ext cx="13571211" cy="43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8"/>
              </a:lnSpc>
            </a:pPr>
            <a:r>
              <a:rPr lang="en-US" b="true" sz="3944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INTERACTIVE RESTAURANT ANALYTICS DASHBOARD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32482" y="1567139"/>
            <a:ext cx="13927786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Visual dashboards transform complex restaurant data into clear and actionable business insights.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983" y="-218016"/>
            <a:ext cx="18403172" cy="10646832"/>
          </a:xfrm>
          <a:custGeom>
            <a:avLst/>
            <a:gdLst/>
            <a:ahLst/>
            <a:cxnLst/>
            <a:rect r="r" b="b" t="t" l="l"/>
            <a:pathLst>
              <a:path h="10646832" w="18403172">
                <a:moveTo>
                  <a:pt x="0" y="0"/>
                </a:moveTo>
                <a:lnTo>
                  <a:pt x="18403173" y="0"/>
                </a:lnTo>
                <a:lnTo>
                  <a:pt x="18403173" y="10646832"/>
                </a:lnTo>
                <a:lnTo>
                  <a:pt x="0" y="106468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128623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56713" y="6490077"/>
            <a:ext cx="4140157" cy="675364"/>
            <a:chOff x="0" y="0"/>
            <a:chExt cx="1090412" cy="1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412" cy="177874"/>
            </a:xfrm>
            <a:custGeom>
              <a:avLst/>
              <a:gdLst/>
              <a:ahLst/>
              <a:cxnLst/>
              <a:rect r="r" b="b" t="t" l="l"/>
              <a:pathLst>
                <a:path h="177874" w="1090412">
                  <a:moveTo>
                    <a:pt x="88937" y="0"/>
                  </a:moveTo>
                  <a:lnTo>
                    <a:pt x="1001475" y="0"/>
                  </a:lnTo>
                  <a:cubicBezTo>
                    <a:pt x="1050593" y="0"/>
                    <a:pt x="1090412" y="39818"/>
                    <a:pt x="1090412" y="88937"/>
                  </a:cubicBezTo>
                  <a:lnTo>
                    <a:pt x="1090412" y="88937"/>
                  </a:lnTo>
                  <a:cubicBezTo>
                    <a:pt x="1090412" y="138055"/>
                    <a:pt x="1050593" y="177874"/>
                    <a:pt x="1001475" y="177874"/>
                  </a:cubicBezTo>
                  <a:lnTo>
                    <a:pt x="88937" y="177874"/>
                  </a:lnTo>
                  <a:cubicBezTo>
                    <a:pt x="39818" y="177874"/>
                    <a:pt x="0" y="138055"/>
                    <a:pt x="0" y="88937"/>
                  </a:cubicBezTo>
                  <a:lnTo>
                    <a:pt x="0" y="88937"/>
                  </a:lnTo>
                  <a:cubicBezTo>
                    <a:pt x="0" y="39818"/>
                    <a:pt x="39818" y="0"/>
                    <a:pt x="88937" y="0"/>
                  </a:cubicBez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90412" cy="225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Recommendations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56713" y="3614098"/>
            <a:ext cx="4149682" cy="675364"/>
            <a:chOff x="0" y="0"/>
            <a:chExt cx="1092920" cy="1778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2920" cy="177874"/>
            </a:xfrm>
            <a:custGeom>
              <a:avLst/>
              <a:gdLst/>
              <a:ahLst/>
              <a:cxnLst/>
              <a:rect r="r" b="b" t="t" l="l"/>
              <a:pathLst>
                <a:path h="177874" w="1092920">
                  <a:moveTo>
                    <a:pt x="88937" y="0"/>
                  </a:moveTo>
                  <a:lnTo>
                    <a:pt x="1003984" y="0"/>
                  </a:lnTo>
                  <a:cubicBezTo>
                    <a:pt x="1053102" y="0"/>
                    <a:pt x="1092920" y="39818"/>
                    <a:pt x="1092920" y="88937"/>
                  </a:cubicBezTo>
                  <a:lnTo>
                    <a:pt x="1092920" y="88937"/>
                  </a:lnTo>
                  <a:cubicBezTo>
                    <a:pt x="1092920" y="138055"/>
                    <a:pt x="1053102" y="177874"/>
                    <a:pt x="1003984" y="177874"/>
                  </a:cubicBezTo>
                  <a:lnTo>
                    <a:pt x="88937" y="177874"/>
                  </a:lnTo>
                  <a:cubicBezTo>
                    <a:pt x="39818" y="177874"/>
                    <a:pt x="0" y="138055"/>
                    <a:pt x="0" y="88937"/>
                  </a:cubicBezTo>
                  <a:lnTo>
                    <a:pt x="0" y="88937"/>
                  </a:lnTo>
                  <a:cubicBezTo>
                    <a:pt x="0" y="39818"/>
                    <a:pt x="39818" y="0"/>
                    <a:pt x="88937" y="0"/>
                  </a:cubicBez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2920" cy="2254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  <a:r>
                <a:rPr lang="en-US" b="true" sz="2599">
                  <a:solidFill>
                    <a:srgbClr val="000000"/>
                  </a:solidFill>
                  <a:latin typeface="Cinzel Decorative Bold"/>
                  <a:ea typeface="Cinzel Decorative Bold"/>
                  <a:cs typeface="Cinzel Decorative Bold"/>
                  <a:sym typeface="Cinzel Decorative Bold"/>
                </a:rPr>
                <a:t>📊 Project Summary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08743" y="1545278"/>
            <a:ext cx="4878383" cy="860952"/>
            <a:chOff x="0" y="0"/>
            <a:chExt cx="1284842" cy="2267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84842" cy="226753"/>
            </a:xfrm>
            <a:custGeom>
              <a:avLst/>
              <a:gdLst/>
              <a:ahLst/>
              <a:cxnLst/>
              <a:rect r="r" b="b" t="t" l="l"/>
              <a:pathLst>
                <a:path h="226753" w="1284842">
                  <a:moveTo>
                    <a:pt x="0" y="0"/>
                  </a:moveTo>
                  <a:lnTo>
                    <a:pt x="1284842" y="0"/>
                  </a:lnTo>
                  <a:lnTo>
                    <a:pt x="1284842" y="226753"/>
                  </a:lnTo>
                  <a:lnTo>
                    <a:pt x="0" y="226753"/>
                  </a:lnTo>
                  <a:close/>
                </a:path>
              </a:pathLst>
            </a:custGeom>
            <a:solidFill>
              <a:srgbClr val="BDFF00">
                <a:alpha val="22745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84842" cy="2648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797576" y="1820171"/>
            <a:ext cx="4789550" cy="75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5541" b="true">
                <a:solidFill>
                  <a:srgbClr val="F4F4F4"/>
                </a:solidFill>
                <a:latin typeface="Lora Bold"/>
                <a:ea typeface="Lora Bold"/>
                <a:cs typeface="Lora Bold"/>
                <a:sym typeface="Lora Bold"/>
              </a:rPr>
              <a:t>CONCLUSION</a:t>
            </a:r>
          </a:p>
          <a:p>
            <a:pPr algn="l">
              <a:lnSpc>
                <a:spcPts val="1993"/>
              </a:lnSpc>
            </a:pPr>
          </a:p>
        </p:txBody>
      </p:sp>
      <p:grpSp>
        <p:nvGrpSpPr>
          <p:cNvPr name="Group 21" id="21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68064" y="1582046"/>
            <a:ext cx="340201" cy="348956"/>
            <a:chOff x="0" y="0"/>
            <a:chExt cx="755264" cy="7747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55264" cy="774700"/>
            </a:xfrm>
            <a:custGeom>
              <a:avLst/>
              <a:gdLst/>
              <a:ahLst/>
              <a:cxnLst/>
              <a:rect r="r" b="b" t="t" l="l"/>
              <a:pathLst>
                <a:path h="774700" w="755264">
                  <a:moveTo>
                    <a:pt x="377632" y="0"/>
                  </a:moveTo>
                  <a:lnTo>
                    <a:pt x="466779" y="295909"/>
                  </a:lnTo>
                  <a:lnTo>
                    <a:pt x="755264" y="295909"/>
                  </a:lnTo>
                  <a:lnTo>
                    <a:pt x="521874" y="478791"/>
                  </a:lnTo>
                  <a:lnTo>
                    <a:pt x="611022" y="774700"/>
                  </a:lnTo>
                  <a:lnTo>
                    <a:pt x="377632" y="591819"/>
                  </a:lnTo>
                  <a:lnTo>
                    <a:pt x="144242" y="774700"/>
                  </a:lnTo>
                  <a:lnTo>
                    <a:pt x="233390" y="478791"/>
                  </a:lnTo>
                  <a:lnTo>
                    <a:pt x="0" y="295909"/>
                  </a:lnTo>
                  <a:lnTo>
                    <a:pt x="288485" y="295909"/>
                  </a:lnTo>
                  <a:lnTo>
                    <a:pt x="377632" y="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212418" y="228600"/>
              <a:ext cx="330428" cy="381000"/>
            </a:xfrm>
            <a:prstGeom prst="rect">
              <a:avLst/>
            </a:prstGeom>
          </p:spPr>
          <p:txBody>
            <a:bodyPr anchor="ctr" rtlCol="false" tIns="60418" lIns="60418" bIns="60418" rIns="6041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9629858" y="1128623"/>
            <a:ext cx="0" cy="1794186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H="true">
            <a:off x="1028700" y="2913284"/>
            <a:ext cx="8601158" cy="0"/>
          </a:xfrm>
          <a:prstGeom prst="line">
            <a:avLst/>
          </a:prstGeom>
          <a:ln cap="flat" w="19050">
            <a:solidFill>
              <a:srgbClr val="BDFF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1253414" y="4723575"/>
            <a:ext cx="6963271" cy="1271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33"/>
              </a:lnSpc>
            </a:pPr>
            <a:r>
              <a:rPr lang="en-US" sz="245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Cleaned and standardized restaurant data</a:t>
            </a:r>
          </a:p>
          <a:p>
            <a:pPr algn="just">
              <a:lnSpc>
                <a:spcPts val="3433"/>
              </a:lnSpc>
            </a:pPr>
            <a:r>
              <a:rPr lang="en-US" sz="245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Analyzed ratings, pricing and delivery trends</a:t>
            </a:r>
          </a:p>
          <a:p>
            <a:pPr algn="just">
              <a:lnSpc>
                <a:spcPts val="3433"/>
              </a:lnSpc>
              <a:spcBef>
                <a:spcPct val="0"/>
              </a:spcBef>
            </a:pPr>
            <a:r>
              <a:rPr lang="en-US" sz="245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Built an interactive analytics dashboard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3414" y="7490954"/>
            <a:ext cx="8300244" cy="1699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Focus on high-rated markets</a:t>
            </a:r>
          </a:p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Expand online delivery services</a:t>
            </a:r>
          </a:p>
          <a:p>
            <a:pPr algn="l">
              <a:lnSpc>
                <a:spcPts val="3436"/>
              </a:lnSpc>
            </a:pPr>
            <a:r>
              <a:rPr lang="en-US" sz="2454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✅ Track business performance using dashboard insights</a:t>
            </a:r>
          </a:p>
          <a:p>
            <a:pPr algn="l">
              <a:lnSpc>
                <a:spcPts val="3436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0938501" y="1366189"/>
            <a:ext cx="5031207" cy="118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3"/>
              </a:lnSpc>
            </a:pPr>
            <a:r>
              <a:rPr lang="en-US" sz="2252" b="true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       Key Insights</a:t>
            </a:r>
          </a:p>
          <a:p>
            <a:pPr algn="l" marL="486358" indent="-243179" lvl="1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Improved Data Quality</a:t>
            </a:r>
          </a:p>
          <a:p>
            <a:pPr algn="l" marL="486358" indent="-243179" lvl="1">
              <a:lnSpc>
                <a:spcPts val="3153"/>
              </a:lnSpc>
              <a:buFont typeface="Arial"/>
              <a:buChar char="•"/>
            </a:pPr>
            <a:r>
              <a:rPr lang="en-US" sz="2252">
                <a:solidFill>
                  <a:srgbClr val="BDFF00"/>
                </a:solidFill>
                <a:latin typeface="Lora"/>
                <a:ea typeface="Lora"/>
                <a:cs typeface="Lora"/>
                <a:sym typeface="Lora"/>
              </a:rPr>
              <a:t>Actionable Business Insights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356713" y="9482048"/>
            <a:ext cx="14125817" cy="496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1"/>
              </a:lnSpc>
            </a:pPr>
            <a:r>
              <a:rPr lang="en-US" b="true" sz="2943">
                <a:solidFill>
                  <a:srgbClr val="BDFF00"/>
                </a:solidFill>
                <a:latin typeface="Lora Bold"/>
                <a:ea typeface="Lora Bold"/>
                <a:cs typeface="Lora Bold"/>
                <a:sym typeface="Lora Bold"/>
              </a:rPr>
              <a:t>Data-driven insights can support better restaurant business decisions.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629858" y="1128623"/>
            <a:ext cx="8601158" cy="8207329"/>
            <a:chOff x="0" y="0"/>
            <a:chExt cx="741962" cy="7079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41962" cy="707989"/>
            </a:xfrm>
            <a:custGeom>
              <a:avLst/>
              <a:gdLst/>
              <a:ahLst/>
              <a:cxnLst/>
              <a:rect r="r" b="b" t="t" l="l"/>
              <a:pathLst>
                <a:path h="707989" w="741962">
                  <a:moveTo>
                    <a:pt x="0" y="0"/>
                  </a:moveTo>
                  <a:lnTo>
                    <a:pt x="741962" y="0"/>
                  </a:lnTo>
                  <a:lnTo>
                    <a:pt x="741962" y="707989"/>
                  </a:lnTo>
                  <a:lnTo>
                    <a:pt x="0" y="707989"/>
                  </a:lnTo>
                  <a:close/>
                </a:path>
              </a:pathLst>
            </a:custGeom>
            <a:blipFill>
              <a:blip r:embed="rId2"/>
              <a:stretch>
                <a:fillRect l="-21476" t="0" r="-21476" b="0"/>
              </a:stretch>
            </a:blipFill>
            <a:ln w="19050" cap="sq">
              <a:solidFill>
                <a:srgbClr val="BDFF00"/>
              </a:solidFill>
              <a:prstDash val="solid"/>
              <a:miter/>
            </a:ln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42078"/>
            <a:ext cx="17202317" cy="9191900"/>
            <a:chOff x="0" y="0"/>
            <a:chExt cx="4530651" cy="2420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30651" cy="2420912"/>
            </a:xfrm>
            <a:custGeom>
              <a:avLst/>
              <a:gdLst/>
              <a:ahLst/>
              <a:cxnLst/>
              <a:rect r="r" b="b" t="t" l="l"/>
              <a:pathLst>
                <a:path h="2420912" w="4530651">
                  <a:moveTo>
                    <a:pt x="0" y="0"/>
                  </a:moveTo>
                  <a:lnTo>
                    <a:pt x="4530651" y="0"/>
                  </a:lnTo>
                  <a:lnTo>
                    <a:pt x="4530651" y="2420912"/>
                  </a:lnTo>
                  <a:lnTo>
                    <a:pt x="0" y="2420912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30651" cy="24590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-2057400"/>
            <a:ext cx="17259300" cy="9418956"/>
            <a:chOff x="0" y="0"/>
            <a:chExt cx="4545659" cy="24807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5659" cy="2480713"/>
            </a:xfrm>
            <a:custGeom>
              <a:avLst/>
              <a:gdLst/>
              <a:ahLst/>
              <a:cxnLst/>
              <a:rect r="r" b="b" t="t" l="l"/>
              <a:pathLst>
                <a:path h="2480713" w="4545659">
                  <a:moveTo>
                    <a:pt x="0" y="0"/>
                  </a:moveTo>
                  <a:lnTo>
                    <a:pt x="4545659" y="0"/>
                  </a:lnTo>
                  <a:lnTo>
                    <a:pt x="4545659" y="2480713"/>
                  </a:lnTo>
                  <a:lnTo>
                    <a:pt x="0" y="2480713"/>
                  </a:lnTo>
                  <a:close/>
                </a:path>
              </a:pathLst>
            </a:custGeom>
            <a:solidFill>
              <a:srgbClr val="BDFF00">
                <a:alpha val="9804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545659" cy="2518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11111"/>
            </a:solidFill>
            <a:ln w="19050" cap="sq">
              <a:solidFill>
                <a:srgbClr val="BDFF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59300" y="1028700"/>
            <a:ext cx="1943433" cy="1894109"/>
            <a:chOff x="0" y="0"/>
            <a:chExt cx="511851" cy="4988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1851" cy="498860"/>
            </a:xfrm>
            <a:custGeom>
              <a:avLst/>
              <a:gdLst/>
              <a:ahLst/>
              <a:cxnLst/>
              <a:rect r="r" b="b" t="t" l="l"/>
              <a:pathLst>
                <a:path h="498860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8860"/>
                  </a:lnTo>
                  <a:lnTo>
                    <a:pt x="0" y="498860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1851" cy="536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914733" y="7393791"/>
            <a:ext cx="1943433" cy="1864509"/>
            <a:chOff x="0" y="0"/>
            <a:chExt cx="511851" cy="491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1851" cy="491064"/>
            </a:xfrm>
            <a:custGeom>
              <a:avLst/>
              <a:gdLst/>
              <a:ahLst/>
              <a:cxnLst/>
              <a:rect r="r" b="b" t="t" l="l"/>
              <a:pathLst>
                <a:path h="491064" w="511851">
                  <a:moveTo>
                    <a:pt x="0" y="0"/>
                  </a:moveTo>
                  <a:lnTo>
                    <a:pt x="511851" y="0"/>
                  </a:lnTo>
                  <a:lnTo>
                    <a:pt x="511851" y="491064"/>
                  </a:lnTo>
                  <a:lnTo>
                    <a:pt x="0" y="491064"/>
                  </a:lnTo>
                  <a:close/>
                </a:path>
              </a:pathLst>
            </a:custGeom>
            <a:solidFill>
              <a:srgbClr val="BDFF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11851" cy="52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787929" y="1157151"/>
            <a:ext cx="14534534" cy="7903708"/>
          </a:xfrm>
          <a:custGeom>
            <a:avLst/>
            <a:gdLst/>
            <a:ahLst/>
            <a:cxnLst/>
            <a:rect r="r" b="b" t="t" l="l"/>
            <a:pathLst>
              <a:path h="7903708" w="14534534">
                <a:moveTo>
                  <a:pt x="0" y="0"/>
                </a:moveTo>
                <a:lnTo>
                  <a:pt x="14534534" y="0"/>
                </a:lnTo>
                <a:lnTo>
                  <a:pt x="14534534" y="7903708"/>
                </a:lnTo>
                <a:lnTo>
                  <a:pt x="0" y="7903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353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DAHLJJ15y-M</dc:identifier>
  <dcterms:modified xsi:type="dcterms:W3CDTF">2011-08-01T06:04:30Z</dcterms:modified>
  <cp:revision>1</cp:revision>
  <dc:title>Black and Neon Green Modern Data Analysis Presentation</dc:title>
</cp:coreProperties>
</file>